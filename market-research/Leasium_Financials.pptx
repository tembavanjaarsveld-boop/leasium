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EDE-1A46-B0F7-9507C25C0CBD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DE-1A46-B0F7-9507C25C0CBD}"/>
              </c:ext>
            </c:extLst>
          </c:dPt>
          <c:dPt>
            <c:idx val="2"/>
            <c:invertIfNegative val="0"/>
            <c:bubble3D val="0"/>
            <c:spPr>
              <a:solidFill>
                <a:srgbClr val="0F2A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EDE-1A46-B0F7-9507C25C0CBD}"/>
              </c:ext>
            </c:extLst>
          </c:dPt>
          <c:dLbls>
            <c:numFmt formatCode="\$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$3 / mo</c:v>
                </c:pt>
                <c:pt idx="1">
                  <c:v>$3.50 / mo</c:v>
                </c:pt>
                <c:pt idx="2">
                  <c:v>$4 / mo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18000000</c:v>
                </c:pt>
                <c:pt idx="1">
                  <c:v>21000000</c:v>
                </c:pt>
                <c:pt idx="2">
                  <c:v>24000000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EDE-1A46-B0F7-9507C25C0C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$/unit/mo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EC2-C546-9BD1-E9A8E7B45038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EC2-C546-9BD1-E9A8E7B45038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EC2-C546-9BD1-E9A8E7B45038}"/>
              </c:ext>
            </c:extLst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EC2-C546-9BD1-E9A8E7B45038}"/>
              </c:ext>
            </c:extLst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EC2-C546-9BD1-E9A8E7B45038}"/>
              </c:ext>
            </c:extLst>
          </c:dPt>
          <c:dPt>
            <c:idx val="5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EC2-C546-9BD1-E9A8E7B45038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EC2-C546-9BD1-E9A8E7B45038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EC2-C546-9BD1-E9A8E7B45038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EC2-C546-9BD1-E9A8E7B45038}"/>
              </c:ext>
            </c:extLst>
          </c:dPt>
          <c:dPt>
            <c:idx val="9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1EC2-C546-9BD1-E9A8E7B45038}"/>
              </c:ext>
            </c:extLst>
          </c:dPt>
          <c:dPt>
            <c:idx val="10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1EC2-C546-9BD1-E9A8E7B45038}"/>
              </c:ext>
            </c:extLst>
          </c:dPt>
          <c:dLbls>
            <c:numFmt formatCode="\$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TenantCloud (US)</c:v>
                </c:pt>
                <c:pt idx="1">
                  <c:v>Buildium (US)</c:v>
                </c:pt>
                <c:pt idx="2">
                  <c:v>Leasium — large agency</c:v>
                </c:pt>
                <c:pt idx="3">
                  <c:v>Leasium — small agency</c:v>
                </c:pt>
                <c:pt idx="4">
                  <c:v>Hemlane (US)</c:v>
                </c:pt>
                <c:pt idx="5">
                  <c:v>Leasium — private landlord</c:v>
                </c:pt>
                <c:pt idx="6">
                  <c:v>DoorLoop (US)</c:v>
                </c:pt>
                <c:pt idx="7">
                  <c:v>PropertyMe (AU)</c:v>
                </c:pt>
                <c:pt idx="8">
                  <c:v>Re-Leased (commercial)</c:v>
                </c:pt>
                <c:pt idx="9">
                  <c:v>RentingSmart (AU)</c:v>
                </c:pt>
                <c:pt idx="10">
                  <c:v>RentBetter (AU)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2.9</c:v>
                </c:pt>
                <c:pt idx="2">
                  <c:v>3</c:v>
                </c:pt>
                <c:pt idx="3">
                  <c:v>4</c:v>
                </c:pt>
                <c:pt idx="4">
                  <c:v>4.33</c:v>
                </c:pt>
                <c:pt idx="5">
                  <c:v>5</c:v>
                </c:pt>
                <c:pt idx="6">
                  <c:v>6.9</c:v>
                </c:pt>
                <c:pt idx="7">
                  <c:v>8.8000000000000007</c:v>
                </c:pt>
                <c:pt idx="8">
                  <c:v>18</c:v>
                </c:pt>
                <c:pt idx="9">
                  <c:v>20</c:v>
                </c:pt>
                <c:pt idx="10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1EC2-C546-9BD1-E9A8E7B450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84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2011680"/>
            <a:ext cx="5669280" cy="5669280"/>
          </a:xfrm>
          <a:prstGeom prst="ellipse">
            <a:avLst/>
          </a:prstGeom>
          <a:solidFill>
            <a:srgbClr val="16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0152" y="3383280"/>
            <a:ext cx="2926080" cy="2926080"/>
          </a:xfrm>
          <a:prstGeom prst="ellipse">
            <a:avLst/>
          </a:prstGeom>
          <a:solidFill>
            <a:srgbClr val="0E7C7B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0976" y="13716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61872" y="13716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LEASIUM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Plan &amp; Pricing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targets · revenue · competitive position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0080" y="480060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Brisbane   →   SE Queensland   →   National (AU)   →   PM-business expansion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per-tenant pricing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managed tenancy — no setup fee, no lock-in. Price steps down as portfolios get larger.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16636" y="196596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EEF3F8"/>
          </a:solidFill>
          <a:ln w="12700">
            <a:solidFill>
              <a:srgbClr val="D8E0EA"/>
            </a:solidFill>
            <a:prstDash val="solid"/>
          </a:ln>
          <a:effectLst>
            <a:outerShdw blurRad="114300" dist="38100" dir="8100000" algn="bl" rotWithShape="0">
              <a:srgbClr val="0F2A4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6636" y="1965960"/>
            <a:ext cx="3383280" cy="1188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2396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2396" y="28803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tenant / mo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882396" y="4206240"/>
            <a:ext cx="26517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2396" y="4297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Self-managing landlords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02836" y="196596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EEF3F8"/>
          </a:solidFill>
          <a:ln w="12700">
            <a:solidFill>
              <a:srgbClr val="D8E0EA"/>
            </a:solidFill>
            <a:prstDash val="solid"/>
          </a:ln>
          <a:effectLst>
            <a:outerShdw blurRad="114300" dist="38100" dir="8100000" algn="bl" rotWithShape="0">
              <a:srgbClr val="0F2A4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02836" y="1965960"/>
            <a:ext cx="3383280" cy="118872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68596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AGENCIES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68596" y="28803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tenant / mo</a:t>
            </a:r>
            <a:endParaRPr lang="en-US" sz="6000" dirty="0"/>
          </a:p>
        </p:txBody>
      </p:sp>
      <p:sp>
        <p:nvSpPr>
          <p:cNvPr id="14" name="Shape 12"/>
          <p:cNvSpPr/>
          <p:nvPr/>
        </p:nvSpPr>
        <p:spPr>
          <a:xfrm>
            <a:off x="4768596" y="4206240"/>
            <a:ext cx="26517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68596" y="4297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portfolios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89036" y="196596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EEF3F8"/>
          </a:solidFill>
          <a:ln w="12700">
            <a:solidFill>
              <a:srgbClr val="D8E0EA"/>
            </a:solidFill>
            <a:prstDash val="solid"/>
          </a:ln>
          <a:effectLst>
            <a:outerShdw blurRad="114300" dist="38100" dir="8100000" algn="bl" rotWithShape="0">
              <a:srgbClr val="0F2A4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89036" y="1965960"/>
            <a:ext cx="3383280" cy="118872"/>
          </a:xfrm>
          <a:prstGeom prst="rect">
            <a:avLst/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54796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AGENCIES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54796" y="28803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tenant / mo</a:t>
            </a:r>
            <a:endParaRPr lang="en-US" sz="6000" dirty="0"/>
          </a:p>
        </p:txBody>
      </p:sp>
      <p:sp>
        <p:nvSpPr>
          <p:cNvPr id="20" name="Shape 18"/>
          <p:cNvSpPr/>
          <p:nvPr/>
        </p:nvSpPr>
        <p:spPr>
          <a:xfrm>
            <a:off x="8654796" y="4206240"/>
            <a:ext cx="26517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54796" y="4297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portfolios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53949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 used for planning: $4 / tenant / month.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Leasium  ·  Financial Plan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Brisbane, then scale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model in one dense metro, then roll out. Each target is a modest share of the rental market.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06324" y="19202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14300" dist="38100" dir="8100000" algn="bl" rotWithShape="0">
              <a:srgbClr val="0F2A4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2084" y="22860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2084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49324" y="23042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03604" y="25420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Brisbane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6364" y="32918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72084" y="40690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2084" y="4462272"/>
            <a:ext cx="187452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2084" y="45720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$0.24M  ARR</a:t>
            </a:r>
            <a:endParaRPr lang="en-US" sz="17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 MRR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2084" y="5166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1.6% of metro rentals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6412" y="19202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14300" dist="38100" dir="8100000" algn="bl" rotWithShape="0">
              <a:srgbClr val="0F2A4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62172" y="22860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62172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439412" y="23042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93692" y="25420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Queensland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16452" y="32918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662172" y="40690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62172" y="4462272"/>
            <a:ext cx="187452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62172" y="45720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$0.48M  ARR</a:t>
            </a:r>
            <a:endParaRPr lang="en-US" sz="17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$40k MRR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662172" y="5166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 of SEQ rentals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86500" y="19202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14300" dist="38100" dir="8100000" algn="bl" rotWithShape="0">
              <a:srgbClr val="0F2A4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52260" y="22860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5226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429500" y="23042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83780" y="25420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(AU)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606540" y="32918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100,000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652260" y="40690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52260" y="4462272"/>
            <a:ext cx="187452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52260" y="45720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$4.8M  ARR</a:t>
            </a:r>
            <a:endParaRPr lang="en-US" sz="17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 MRR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652260" y="5166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 of AU rentals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276588" y="19202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14300" dist="38100" dir="8100000" algn="bl" rotWithShape="0">
              <a:srgbClr val="0F2A4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642348" y="22860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642348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0419588" y="23042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373868" y="25420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businesses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596628" y="32918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500,000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9642348" y="40690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42348" y="4462272"/>
            <a:ext cx="187452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642348" y="457200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$21M  ARR</a:t>
            </a:r>
            <a:endParaRPr lang="en-US" sz="17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$1.75M MRR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9642348" y="5166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agency market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0080" y="5806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at blended $4/mo (phases 1-3) and $3.50/mo (Phase 4, agency pricing). Shares are of total rentals (1-3) and the national agency market (4).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Leasium  ·  Financial Plan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expansion prize: ~$21M ARR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500,000 tenancies via property managers at agency pricing ($3–4/mo). The AU landing phases are the path in.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91440" cy="105156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1214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Brisbane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4871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$0.24M ARR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 MRR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91440" cy="105156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33558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Queensland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7216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$0.48M ARR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$40k MRR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91440" cy="1051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45902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(AU)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9560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$4.8M ARR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 MRR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20640" y="1874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ARR by agency price (500k tenancies)</a:t>
            </a:r>
            <a:endParaRPr lang="en-US" sz="14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029200" y="2240280"/>
          <a:ext cx="65836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Leasium  ·  Financial Plan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Priced to undercut the incumbents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cost per unit / month at a small portfolio. Leasium sits in the low-cost cluster — far below AU self-managing tools and commercial platforms.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920240"/>
          <a:ext cx="768096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2103120"/>
            <a:ext cx="3017520" cy="2834640"/>
          </a:xfrm>
          <a:prstGeom prst="roundRect">
            <a:avLst>
              <a:gd name="adj" fmla="val 3226"/>
            </a:avLst>
          </a:prstGeom>
          <a:solidFill>
            <a:srgbClr val="0F2A43"/>
          </a:solidFill>
          <a:ln/>
          <a:effectLst>
            <a:outerShdw blurRad="114300" dist="38100" dir="8100000" algn="bl" rotWithShape="0">
              <a:srgbClr val="0F2A4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69680" y="27432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Leasium $3–5</a:t>
            </a:r>
            <a:endParaRPr lang="en-US" sz="2200" dirty="0"/>
          </a:p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RentBetter $29–36</a:t>
            </a:r>
            <a:endParaRPr lang="en-US" sz="22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of the AU self-managing incumbents, and floor/setup-free vs commercial Re-Leased.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58521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$/unit at a small portfolio. AU tools priced per property; US tools (DoorLoop, Buildium, etc.) scale — a monthly plan floor at small portfolios falling toward ~$2–3/unit at volume. Re-Leased is commercial &amp; quote-based (estimated).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421</Words>
  <Application>Microsoft Macintosh PowerPoint</Application>
  <PresentationFormat>Widescreen</PresentationFormat>
  <Paragraphs>80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Leasium — Financial Plan &amp; Pricing</dc:title>
  <dc:subject>PptxGenJS Presentation</dc:subject>
  <dc:creator>Leasium</dc:creator>
  <cp:lastModifiedBy>Temba van Jaarsveld</cp:lastModifiedBy>
  <cp:revision>1</cp:revision>
  <dcterms:created xsi:type="dcterms:W3CDTF">2026-05-31T08:06:22Z</dcterms:created>
  <dcterms:modified xsi:type="dcterms:W3CDTF">2026-05-31T21:26:01Z</dcterms:modified>
</cp:coreProperties>
</file>