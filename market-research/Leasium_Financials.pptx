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ARR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$0.0,,&quot;M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F2A43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$3 / mo</c:v>
                  </c:pt>
                  <c:pt idx="1">
                    <c:v>$4 / mo</c:v>
                  </c:pt>
                  <c:pt idx="2">
                    <c:v>$5 / mo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3600000</c:v>
                </c:pt>
                <c:pt idx="1">
                  <c:v>4800000</c:v>
                </c:pt>
                <c:pt idx="2">
                  <c:v>6000000</c:v>
                </c:pt>
              </c:numCache>
            </c:numRef>
          </c:val>
        </c:ser>
        <c:dLbls>
          <c:numFmt formatCode="$0.0,,&quot;M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$/unit/mo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$0.0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TenantCloud (US)</c:v>
                  </c:pt>
                  <c:pt idx="1">
                    <c:v>Buildium (US)</c:v>
                  </c:pt>
                  <c:pt idx="2">
                    <c:v>Leasium — large agency</c:v>
                  </c:pt>
                  <c:pt idx="3">
                    <c:v>Leasium — small agency</c:v>
                  </c:pt>
                  <c:pt idx="4">
                    <c:v>Hemlane (US)</c:v>
                  </c:pt>
                  <c:pt idx="5">
                    <c:v>Leasium — private landlord</c:v>
                  </c:pt>
                  <c:pt idx="6">
                    <c:v>DoorLoop (US)</c:v>
                  </c:pt>
                  <c:pt idx="7">
                    <c:v>PropertyMe (AU)</c:v>
                  </c:pt>
                  <c:pt idx="8">
                    <c:v>Re-Leased (commercial)</c:v>
                  </c:pt>
                  <c:pt idx="9">
                    <c:v>RentingSmart (AU)</c:v>
                  </c:pt>
                  <c:pt idx="10">
                    <c:v>RentBetter (AU)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</c:v>
                </c:pt>
                <c:pt idx="1">
                  <c:v>2.9</c:v>
                </c:pt>
                <c:pt idx="2">
                  <c:v>3</c:v>
                </c:pt>
                <c:pt idx="3">
                  <c:v>4</c:v>
                </c:pt>
                <c:pt idx="4">
                  <c:v>4.33</c:v>
                </c:pt>
                <c:pt idx="5">
                  <c:v>5</c:v>
                </c:pt>
                <c:pt idx="6">
                  <c:v>6.9</c:v>
                </c:pt>
                <c:pt idx="7">
                  <c:v>8.8</c:v>
                </c:pt>
                <c:pt idx="8">
                  <c:v>18</c:v>
                </c:pt>
                <c:pt idx="9">
                  <c:v>20</c:v>
                </c:pt>
                <c:pt idx="10">
                  <c:v>32</c:v>
                </c:pt>
              </c:numCache>
            </c:numRef>
          </c:val>
        </c:ser>
        <c:dLbls>
          <c:numFmt formatCode="$0.00" sourceLinked="0"/>
          <c:txPr>
            <a:bodyPr/>
            <a:lstStyle/>
            <a:p>
              <a:pPr>
                <a:defRPr b="1" i="0" strike="noStrike" sz="11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7112" y="-2011680"/>
            <a:ext cx="5669280" cy="5669280"/>
          </a:xfrm>
          <a:prstGeom prst="ellipse">
            <a:avLst/>
          </a:prstGeom>
          <a:solidFill>
            <a:srgbClr val="16324D"/>
          </a:solidFill>
          <a:ln/>
        </p:spPr>
      </p:sp>
      <p:sp>
        <p:nvSpPr>
          <p:cNvPr id="3" name="Shape 1"/>
          <p:cNvSpPr/>
          <p:nvPr/>
        </p:nvSpPr>
        <p:spPr>
          <a:xfrm>
            <a:off x="10360152" y="3383280"/>
            <a:ext cx="2926080" cy="2926080"/>
          </a:xfrm>
          <a:prstGeom prst="ellipse">
            <a:avLst/>
          </a:prstGeom>
          <a:solidFill>
            <a:srgbClr val="0E7C7B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37160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02C39A"/>
          </a:solidFill>
          <a:ln/>
        </p:spPr>
      </p:sp>
      <p:sp>
        <p:nvSpPr>
          <p:cNvPr id="5" name="Shape 3"/>
          <p:cNvSpPr/>
          <p:nvPr/>
        </p:nvSpPr>
        <p:spPr>
          <a:xfrm>
            <a:off x="950976" y="137160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02C39A"/>
          </a:solidFill>
          <a:ln/>
        </p:spPr>
      </p:sp>
      <p:sp>
        <p:nvSpPr>
          <p:cNvPr id="6" name="Shape 4"/>
          <p:cNvSpPr/>
          <p:nvPr/>
        </p:nvSpPr>
        <p:spPr>
          <a:xfrm>
            <a:off x="1261872" y="137160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7772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LEASIUM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148840"/>
            <a:ext cx="8412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Financial Plan &amp; Pricing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640080" y="3886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Scaled targets · revenue · competitive position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40080" y="4800600"/>
            <a:ext cx="29260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5029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100" kern="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Brisbane   →   SE Queensland   →   National (AU)   →   United States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Simple per-tenant pricing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Priced per managed tenancy — no setup fee, no lock-in. Price steps down as portfolios get larger.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16636" y="1965960"/>
            <a:ext cx="3383280" cy="3063240"/>
          </a:xfrm>
          <a:prstGeom prst="roundRect">
            <a:avLst>
              <a:gd name="adj" fmla="val 2985"/>
            </a:avLst>
          </a:prstGeom>
          <a:solidFill>
            <a:srgbClr val="EEF3F8"/>
          </a:solidFill>
          <a:ln w="12700">
            <a:solidFill>
              <a:srgbClr val="D8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2A4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16636" y="1965960"/>
            <a:ext cx="3383280" cy="11887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82396" y="23774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PM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82396" y="2880360"/>
            <a:ext cx="2651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</a:t>
            </a:r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 tenant / mo</a:t>
            </a:r>
            <a:endParaRPr lang="en-US" sz="6000" dirty="0"/>
          </a:p>
        </p:txBody>
      </p:sp>
      <p:sp>
        <p:nvSpPr>
          <p:cNvPr id="8" name="Shape 6"/>
          <p:cNvSpPr/>
          <p:nvPr/>
        </p:nvSpPr>
        <p:spPr>
          <a:xfrm>
            <a:off x="882396" y="4206240"/>
            <a:ext cx="265176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2396" y="42976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Self-managing landlords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02836" y="1965960"/>
            <a:ext cx="3383280" cy="3063240"/>
          </a:xfrm>
          <a:prstGeom prst="roundRect">
            <a:avLst>
              <a:gd name="adj" fmla="val 2985"/>
            </a:avLst>
          </a:prstGeom>
          <a:solidFill>
            <a:srgbClr val="EEF3F8"/>
          </a:solidFill>
          <a:ln w="12700">
            <a:solidFill>
              <a:srgbClr val="D8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2A43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02836" y="1965960"/>
            <a:ext cx="3383280" cy="118872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2" name="Text 10"/>
          <p:cNvSpPr/>
          <p:nvPr/>
        </p:nvSpPr>
        <p:spPr>
          <a:xfrm>
            <a:off x="4768596" y="23774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SMB AGENCIES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68596" y="2880360"/>
            <a:ext cx="2651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</a:t>
            </a:r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 tenant / mo</a:t>
            </a:r>
            <a:endParaRPr lang="en-US" sz="6000" dirty="0"/>
          </a:p>
        </p:txBody>
      </p:sp>
      <p:sp>
        <p:nvSpPr>
          <p:cNvPr id="14" name="Shape 12"/>
          <p:cNvSpPr/>
          <p:nvPr/>
        </p:nvSpPr>
        <p:spPr>
          <a:xfrm>
            <a:off x="4768596" y="4206240"/>
            <a:ext cx="265176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8596" y="42976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portfolios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289036" y="1965960"/>
            <a:ext cx="3383280" cy="3063240"/>
          </a:xfrm>
          <a:prstGeom prst="roundRect">
            <a:avLst>
              <a:gd name="adj" fmla="val 2985"/>
            </a:avLst>
          </a:prstGeom>
          <a:solidFill>
            <a:srgbClr val="EEF3F8"/>
          </a:solidFill>
          <a:ln w="12700">
            <a:solidFill>
              <a:srgbClr val="D8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2A4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89036" y="1965960"/>
            <a:ext cx="3383280" cy="118872"/>
          </a:xfrm>
          <a:prstGeom prst="rect">
            <a:avLst/>
          </a:prstGeom>
          <a:solidFill>
            <a:srgbClr val="0F2A43"/>
          </a:solidFill>
          <a:ln/>
        </p:spPr>
      </p:sp>
      <p:sp>
        <p:nvSpPr>
          <p:cNvPr id="18" name="Text 16"/>
          <p:cNvSpPr/>
          <p:nvPr/>
        </p:nvSpPr>
        <p:spPr>
          <a:xfrm>
            <a:off x="8654796" y="23774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SMB AGENCIES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54796" y="2880360"/>
            <a:ext cx="2651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</a:t>
            </a:r>
            <a:pPr algn="l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 tenant / mo</a:t>
            </a:r>
            <a:endParaRPr lang="en-US" sz="6000" dirty="0"/>
          </a:p>
        </p:txBody>
      </p:sp>
      <p:sp>
        <p:nvSpPr>
          <p:cNvPr id="20" name="Shape 18"/>
          <p:cNvSpPr/>
          <p:nvPr/>
        </p:nvSpPr>
        <p:spPr>
          <a:xfrm>
            <a:off x="8654796" y="4206240"/>
            <a:ext cx="265176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54796" y="42976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portfolios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" y="53949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ARPU used for planning: $4 / tenant / month.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Leasium  ·  Financial Plan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Land Brisbane, then scale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model in one dense metro, then roll out. Each target is a modest share of the rental market.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06324" y="1920240"/>
            <a:ext cx="2606040" cy="36576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2A4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2084" y="228600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72084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449324" y="2304288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03604" y="2542032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Brisbane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26364" y="32918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5,000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672084" y="406908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72084" y="4462272"/>
            <a:ext cx="187452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2084" y="4572000"/>
            <a:ext cx="1874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$0.24M  ARR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 MRR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72084" y="51663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1.6% of metro rentals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96412" y="1920240"/>
            <a:ext cx="2606040" cy="36576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2A43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62172" y="228600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3662172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439412" y="2304288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93692" y="2542032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Queensland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616452" y="32918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10,000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3662172" y="406908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62172" y="4462272"/>
            <a:ext cx="187452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62172" y="4572000"/>
            <a:ext cx="1874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$0.48M  ARR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$40k MRR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62172" y="51663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2.2% of SEQ rentals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86500" y="1920240"/>
            <a:ext cx="2606040" cy="36576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2A43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652260" y="228600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6652260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7429500" y="2304288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383780" y="2542032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(AU)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606540" y="32918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100,000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6652260" y="406908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652260" y="4462272"/>
            <a:ext cx="187452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52260" y="4572000"/>
            <a:ext cx="1874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$4.8M  ARR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$400k MRR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652260" y="51663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3.4% of AU rentals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9276588" y="1920240"/>
            <a:ext cx="2606040" cy="3657600"/>
          </a:xfrm>
          <a:prstGeom prst="roundRect">
            <a:avLst>
              <a:gd name="adj" fmla="val 3509"/>
            </a:avLst>
          </a:prstGeom>
          <a:solidFill>
            <a:srgbClr val="EEF3F8"/>
          </a:solidFill>
          <a:ln w="12700">
            <a:solidFill>
              <a:srgbClr val="D8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2A43">
                <a:alpha val="1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642348" y="2286000"/>
            <a:ext cx="640080" cy="64008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36" name="Text 34"/>
          <p:cNvSpPr/>
          <p:nvPr/>
        </p:nvSpPr>
        <p:spPr>
          <a:xfrm>
            <a:off x="9642348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10419588" y="2304288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373868" y="2542032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States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596628" y="32918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</a:t>
            </a:r>
            <a:endParaRPr lang="en-US" sz="3000" dirty="0"/>
          </a:p>
        </p:txBody>
      </p:sp>
      <p:sp>
        <p:nvSpPr>
          <p:cNvPr id="40" name="Text 38"/>
          <p:cNvSpPr/>
          <p:nvPr/>
        </p:nvSpPr>
        <p:spPr>
          <a:xfrm>
            <a:off x="9642348" y="406908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42348" y="4462272"/>
            <a:ext cx="187452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2348" y="4572000"/>
            <a:ext cx="1874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ARR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~49.5M rental units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9642348" y="51663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model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40080" y="580644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at blended $4 / tenant / month. Market shares are of total rental tenancies (RTA / ATO basis).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Leasium  ·  Financial Plan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national prize: ~$4.8M ARR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100,000 tenants at a blended $4/mo — a $3.6–6.0M range depending on the private-landlord vs agency mix.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011680"/>
            <a:ext cx="91440" cy="105156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2140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Brisbane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248716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$0.24M ARR 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 MRR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3246120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246120"/>
            <a:ext cx="91440" cy="105156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335584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Queensland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372160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$0.48M ARR 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$40k MRR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4480560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4480560"/>
            <a:ext cx="91440" cy="10515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459028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(AU)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" y="495604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$4.8M ARR 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$400k MRR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120640" y="18745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ARR by blended price</a:t>
            </a:r>
            <a:endParaRPr lang="en-US" sz="14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5029200" y="224028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Leasium  ·  Financial Plan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Priced to undercut the incumbents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cost per unit / month at a small portfolio. Leasium sits in the low-cost cluster — far below AU self-managing tools and commercial platforms.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920240"/>
          <a:ext cx="768096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595360" y="2103120"/>
            <a:ext cx="3017520" cy="2834640"/>
          </a:xfrm>
          <a:prstGeom prst="roundRect">
            <a:avLst>
              <a:gd name="adj" fmla="val 3226"/>
            </a:avLst>
          </a:prstGeom>
          <a:solidFill>
            <a:srgbClr val="0F2A43"/>
          </a:solidFill>
          <a:ln/>
          <a:effectLst>
            <a:outerShdw sx="100000" sy="100000" kx="0" ky="0" algn="bl" rotWithShape="0" blurRad="114300" dist="38100" dir="8100000">
              <a:srgbClr val="0F2A43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869680" y="23317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wedge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869680" y="2743200"/>
            <a:ext cx="25603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Leasium $3–5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RentBetter $29–36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fraction of the AU self-managing incumbents, and floor/setup-free vs commercial Re-Leased.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58521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$/unit at a small portfolio. AU tools priced per property; US tools (DoorLoop, Buildium, etc.) scale — a monthly plan floor at small portfolios falling toward ~$2–3/unit at volume. Re-Leased is commercial &amp; quote-based (estimated).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Leasium — Financial Plan &amp; Pricing</dc:title>
  <dc:subject>PptxGenJS Presentation</dc:subject>
  <dc:creator>Leasium</dc:creator>
  <cp:lastModifiedBy>Leasium</cp:lastModifiedBy>
  <cp:revision>1</cp:revision>
  <dcterms:created xsi:type="dcterms:W3CDTF">2026-05-31T04:38:32Z</dcterms:created>
  <dcterms:modified xsi:type="dcterms:W3CDTF">2026-05-31T04:38:32Z</dcterms:modified>
</cp:coreProperties>
</file>